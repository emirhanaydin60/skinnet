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87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llenge.isic-archive.com/data/#201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0972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Ödev 2 </a:t>
            </a:r>
            <a:r>
              <a:rPr lang="en-US" sz="2800" b="1" dirty="0" err="1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Sunum</a:t>
            </a:r>
            <a:r>
              <a:rPr lang="tr-TR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783080"/>
            <a:ext cx="4937760" cy="0"/>
          </a:xfrm>
          <a:prstGeom prst="line">
            <a:avLst/>
          </a:prstGeom>
          <a:noFill/>
          <a:ln w="2540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68680" y="20299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</a:rPr>
              <a:t>Görüntü Sınıflandırma - Uygulama, Deney ve Sonuç Sunumu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6949440" cy="186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Deri kanseri dünya genelinde önemli bir sağlık problemidir.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Erken teşhis hayat kurtarıcıdır.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Dermatoskopik görüntüler kullanılarak otomatik sınıflandırma yapılabilir.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Bu çalışmada ISIC2019 veri seti kullanılarak CNN tabanlı bir sınıflandırma modeli geliştirilmiştir.</a:t>
            </a:r>
          </a:p>
        </p:txBody>
      </p:sp>
      <p:sp>
        <p:nvSpPr>
          <p:cNvPr id="6" name="Text 4"/>
          <p:cNvSpPr/>
          <p:nvPr/>
        </p:nvSpPr>
        <p:spPr>
          <a:xfrm>
            <a:off x="7863840" y="1965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000" b="1" dirty="0">
                <a:solidFill>
                  <a:srgbClr val="1F2937"/>
                </a:solidFill>
              </a:rPr>
              <a:t>Emirhan AYDIN</a:t>
            </a:r>
            <a:endParaRPr lang="en-US" sz="2000" dirty="0"/>
          </a:p>
          <a:p>
            <a:pPr marL="0" indent="0">
              <a:buNone/>
            </a:pPr>
            <a:r>
              <a:rPr lang="tr-TR" sz="2000" b="1" dirty="0"/>
              <a:t>ISIC2019</a:t>
            </a:r>
            <a:endParaRPr lang="en-US" sz="2000" b="1" dirty="0"/>
          </a:p>
          <a:p>
            <a:pPr marL="0" indent="0">
              <a:buNone/>
            </a:pPr>
            <a:r>
              <a:rPr lang="tr-TR" sz="2000" b="1" dirty="0"/>
              <a:t>Hastalık Tespiti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Ders: İleri Bilgisayarlı Görme ve Derin Öğrenme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Kümesi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1/9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6536" y="1607101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tr-TR" sz="1900" dirty="0"/>
              <a:t>ISIC2019: </a:t>
            </a:r>
            <a:r>
              <a:rPr lang="tr-TR" sz="1900" dirty="0">
                <a:hlinkClick r:id="rId3"/>
              </a:rPr>
              <a:t>https://challenge.isic-archive.com/data/#2019</a:t>
            </a:r>
            <a:endParaRPr lang="tr-TR" sz="1900" dirty="0"/>
          </a:p>
          <a:p>
            <a:pPr marL="177800" indent="-177800">
              <a:buSzPct val="100000"/>
              <a:buChar char="•"/>
            </a:pPr>
            <a:r>
              <a:rPr lang="tr-TR" sz="2000" dirty="0"/>
              <a:t>Cilt kanseri görüntüleri</a:t>
            </a:r>
          </a:p>
          <a:p>
            <a:pPr marL="177800" indent="-177800">
              <a:buSzPct val="100000"/>
              <a:buChar char="•"/>
            </a:pPr>
            <a:r>
              <a:rPr lang="tr-TR" sz="2000" dirty="0"/>
              <a:t>25 331 görüntü</a:t>
            </a:r>
          </a:p>
          <a:p>
            <a:pPr marL="177800" indent="-177800">
              <a:buSzPct val="100000"/>
              <a:buChar char="•"/>
            </a:pPr>
            <a:r>
              <a:rPr lang="tr-TR" sz="2000" dirty="0"/>
              <a:t>8 farklı sınıf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ınıf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dengesizliği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ve b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enzer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problemleri</a:t>
            </a:r>
            <a:endParaRPr lang="en-US" sz="1900" dirty="0"/>
          </a:p>
        </p:txBody>
      </p:sp>
      <p:pic>
        <p:nvPicPr>
          <p:cNvPr id="2052" name="Picture 4" descr="ISIC 2019 Dataset: Analysis of the Distribution of Sample Samples of... |  Download Scientific Diagram">
            <a:extLst>
              <a:ext uri="{FF2B5EF4-FFF2-40B4-BE49-F238E27FC236}">
                <a16:creationId xmlns:a16="http://schemas.microsoft.com/office/drawing/2014/main" id="{042484EB-B062-3C37-7E96-F0788B71C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402" y="3243072"/>
            <a:ext cx="51339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Hazırlama ve Ön İşleme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2/9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401792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test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ayrımı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%80 - %10 - %10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Görüntü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yeniden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boyutlandırma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224x224x3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Normalizasyon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Tüm pixel değerleri 0-1 aralığına çekilmiştir.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 kullanıldıysa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Data augmentation kullanılmadı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</a:t>
            </a:r>
            <a:r>
              <a:rPr lang="en-US" sz="2600" b="1" dirty="0" err="1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</a:t>
            </a:r>
            <a:r>
              <a:rPr lang="tr-TR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3/9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Eğitim Ayarları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4/9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Epoch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sayısı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100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16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Adam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10 x e^-4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function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Crossentropy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Kullanılan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donanım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ortam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RTX3060 / Pytorch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Temel Sonuçlar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5/9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</a:rPr>
              <a:t>Sonuçlar yalnızca verilmemeli; kısa biçimde yorumlanmalıdır.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Precision, </a:t>
            </a:r>
            <a:r>
              <a:rPr lang="tr-TR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ve F1-Skor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metrikler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Eğitim / doğrulama grafikleri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sonuç yorumu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Yerleşim serbesttir. Gerekli gördüğünüz görsel, tablo ve grafikleri ekleyebilirsiniz.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Denenebilir Fikir ve Karşılaştırma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6/9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</a:rPr>
              <a:t>Ödev 1’de belirtilen “Denenebilir Fikir” alanından en az bir fikir uygulanmalı ve sonuçları karşılaştırılmalıdır.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 fikir denendi?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değiştirildi?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denendi?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model sonucu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sonuç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karşılaştırma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Yerleşim serbesttir. Gerekli gördüğünüz görsel, tablo ve grafikleri ekleyebilirsiniz.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Literatür ile Kısa Karşılaştırma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7/9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</a:rPr>
              <a:t>Amaç literatürü geçmek değil; kendi sonucunuzu bağlam içinde değerlendirmektir.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Mümkünse aynı veri kümesi, değilse aynı problem alanı üzerindeki benzer çalışmalar tablo halinde sunulmalıdır.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Tabloda her çalışma için kullanılan yöntem/model, metrik ve raporlanan sonuç yer almalıdır.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Kendi model veya modellerinizin sonuçları da aynı tabloya eklenmelidir.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Sonuçlar arasındaki farklar varsa, bunların olası nedenleri kısa bir yorumla açıklanabilir.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Not: Literatürdeki sonuçları geçme zorunluluğu yoktur. Karşılaştırmanın amacı, sonucu bağlam içinde yorumlamaktır.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Hata Analizi ve Genel Değerlendirme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8/9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</a:rPr>
              <a:t>Bu bölümde sonuçların neden böyle çıktığı tartışılmalıdır.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çok karışan sınıflar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 nedenler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kümesi kaynaklı sorunlar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kaynaklı sorunlar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 güçlü yönü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 sınırlılığı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Geliştirme için 1 öneri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Yerleşim serbesttir. Gerekli gördüğünüz görsel, tablo ve grafikleri ekleyebilirsiniz.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9/9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</a:rPr>
              <a:t>Veri kümesi linki ile yararlanılan temel makale, repo veya dokümantasyon bağlantıları verilmelidir.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kümesi linki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Kullanılan temel kaynaklar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Makale / repo / dokümantasyon bağlantıları</a:t>
            </a:r>
            <a:endParaRPr lang="en-US" sz="1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61082A1-273C-DBBB-D168-ABA4244F84DA}"/>
              </a:ext>
            </a:extLst>
          </p:cNvPr>
          <p:cNvSpPr/>
          <p:nvPr/>
        </p:nvSpPr>
        <p:spPr>
          <a:xfrm>
            <a:off x="685800" y="63550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Yerleşim serbesttir. Gerekli gördüğünüz görsel, tablo ve grafikleri ekleyebilirsiniz.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450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Ödev 2 - Sade Sunum Şablonu</dc:title>
  <dc:subject>Ödev 2 sade sunum şablonu</dc:subject>
  <dc:creator>OpenAI</dc:creator>
  <cp:lastModifiedBy>Emirhan AYDIN</cp:lastModifiedBy>
  <cp:revision>8</cp:revision>
  <dcterms:created xsi:type="dcterms:W3CDTF">2026-03-07T13:19:01Z</dcterms:created>
  <dcterms:modified xsi:type="dcterms:W3CDTF">2026-03-14T18:40:06Z</dcterms:modified>
</cp:coreProperties>
</file>