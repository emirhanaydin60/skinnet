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87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llenge.isic-archive.com/data/#201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2052677" TargetMode="External"/><Relationship Id="rId7" Type="http://schemas.openxmlformats.org/officeDocument/2006/relationships/hyperlink" Target="https://doi.org/10.1109/ACCESS.2020.300389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health.2022.100122" TargetMode="External"/><Relationship Id="rId5" Type="http://schemas.openxmlformats.org/officeDocument/2006/relationships/hyperlink" Target="https://doi.org/10.1016/j.engappai.2023.107417" TargetMode="External"/><Relationship Id="rId4" Type="http://schemas.openxmlformats.org/officeDocument/2006/relationships/hyperlink" Target="https://doi.org/10.1016/j.bspc.2024.1074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0972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Ödev 2 </a:t>
            </a:r>
            <a:r>
              <a:rPr lang="en-US" sz="2800" b="1" dirty="0" err="1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Sunum</a:t>
            </a:r>
            <a:r>
              <a:rPr lang="tr-TR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783080"/>
            <a:ext cx="4937760" cy="0"/>
          </a:xfrm>
          <a:prstGeom prst="line">
            <a:avLst/>
          </a:prstGeom>
          <a:noFill/>
          <a:ln w="2540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68680" y="20299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</a:rPr>
              <a:t>Görüntü Sınıflandırma - Uygulama, Deney ve Sonuç Sunumu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6949440" cy="186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Deri kanseri dünya genelinde önemli bir sağlık problemidir.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Erken teşhis hayat kurtarıcıdır.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Dermatoskopik görüntüler kullanılarak otomatik sınıflandırma yapılabilir.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Bu çalışmada ISIC2019 veri seti kullanılarak CNN tabanlı bir sınıflandırma modeli geliştirilmiştir.</a:t>
            </a:r>
          </a:p>
        </p:txBody>
      </p:sp>
      <p:sp>
        <p:nvSpPr>
          <p:cNvPr id="6" name="Text 4"/>
          <p:cNvSpPr/>
          <p:nvPr/>
        </p:nvSpPr>
        <p:spPr>
          <a:xfrm>
            <a:off x="7863840" y="1965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000" b="1" dirty="0">
                <a:solidFill>
                  <a:srgbClr val="1F2937"/>
                </a:solidFill>
              </a:rPr>
              <a:t>Emirhan AYDIN</a:t>
            </a:r>
            <a:endParaRPr lang="en-US" sz="2000" dirty="0"/>
          </a:p>
          <a:p>
            <a:pPr marL="0" indent="0">
              <a:buNone/>
            </a:pPr>
            <a:r>
              <a:rPr lang="tr-TR" sz="2000" b="1" dirty="0"/>
              <a:t>ISIC2019</a:t>
            </a:r>
            <a:endParaRPr lang="en-US" sz="2000" b="1" dirty="0"/>
          </a:p>
          <a:p>
            <a:pPr marL="0" indent="0">
              <a:buNone/>
            </a:pPr>
            <a:r>
              <a:rPr lang="tr-TR" sz="2000" b="1" dirty="0"/>
              <a:t>Hastalık Tespiti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Ders: İleri Bilgisayarlı Görme ve Derin Öğrenme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Kümesi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1/9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6536" y="1607101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tr-TR" sz="1900" dirty="0"/>
              <a:t>ISIC2019: </a:t>
            </a:r>
            <a:r>
              <a:rPr lang="tr-TR" sz="1900" dirty="0">
                <a:hlinkClick r:id="rId3"/>
              </a:rPr>
              <a:t>https://challenge.isic-archive.com/data/#2019</a:t>
            </a:r>
            <a:endParaRPr lang="tr-TR" sz="1900" dirty="0"/>
          </a:p>
          <a:p>
            <a:pPr marL="177800" indent="-177800">
              <a:buSzPct val="100000"/>
              <a:buChar char="•"/>
            </a:pPr>
            <a:r>
              <a:rPr lang="tr-TR" sz="2000" dirty="0"/>
              <a:t>Cilt kanseri görüntüleri</a:t>
            </a:r>
          </a:p>
          <a:p>
            <a:pPr marL="177800" indent="-177800">
              <a:buSzPct val="100000"/>
              <a:buChar char="•"/>
            </a:pPr>
            <a:r>
              <a:rPr lang="tr-TR" sz="2000" dirty="0"/>
              <a:t>25 331 görüntü</a:t>
            </a:r>
          </a:p>
          <a:p>
            <a:pPr marL="177800" indent="-177800">
              <a:buSzPct val="100000"/>
              <a:buChar char="•"/>
            </a:pPr>
            <a:r>
              <a:rPr lang="tr-TR" sz="2000" dirty="0"/>
              <a:t>8 farklı sınıf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ınıf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dengesizliği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ve b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enzer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problemleri</a:t>
            </a:r>
            <a:endParaRPr lang="en-US" sz="1900" dirty="0"/>
          </a:p>
        </p:txBody>
      </p:sp>
      <p:pic>
        <p:nvPicPr>
          <p:cNvPr id="2052" name="Picture 4" descr="ISIC 2019 Dataset: Analysis of the Distribution of Sample Samples of... |  Download Scientific Diagram">
            <a:extLst>
              <a:ext uri="{FF2B5EF4-FFF2-40B4-BE49-F238E27FC236}">
                <a16:creationId xmlns:a16="http://schemas.microsoft.com/office/drawing/2014/main" id="{042484EB-B062-3C37-7E96-F0788B71C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402" y="3243072"/>
            <a:ext cx="51339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Hazırlama ve Ön İşleme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2/9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401792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ayrımı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%80 - %20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Görüntü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yeniden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boyutlandırma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224x224x3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Normalizasyon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Tüm pixel değerleri 0-1 aralığına çekilmiştir.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 kullanıldıysa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Tüm resimler çeşitli augmentation yöntemleri (rotation, zoom in/out, replacement, mirror vb.) ile çoğaltılmış ve sınıflar arası dengesizlik problemi azaltılmıştır.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</a:t>
            </a:r>
            <a:r>
              <a:rPr lang="en-US" sz="2600" b="1" dirty="0" err="1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</a:t>
            </a:r>
            <a:r>
              <a:rPr lang="tr-TR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3/9</a:t>
            </a:r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088A02-3B67-39B7-06E4-3BF12306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143" y="1048464"/>
            <a:ext cx="6508632" cy="58095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Eğitim Ayarları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4/9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sayısı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200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24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Adam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10 x e^-4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function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Categorical Crossentropy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donanım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ortam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RTX3060 / Pytorch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Temel Sonuçlar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5/9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243585"/>
            <a:ext cx="996696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0.781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Precision: 0.788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Recall: 0.781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F1-Skor: 0.775</a:t>
            </a:r>
          </a:p>
          <a:p>
            <a:pPr marL="177800" indent="-177800">
              <a:buSzPct val="100000"/>
              <a:buChar char="•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AUC Skor: 0.853</a:t>
            </a: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Eğitim ve doğrulama grafiği incelendiğinde modelin öğrenme eğrisinde doyum noktasına ulaştığı gözlemlenmektir. Model ağırlıklı olarak MEL ve SCC isimli sınıflarda yüksek doğruluk gösterememiş, sebebinin sınıflar arası benzerlik olduğu görülmüştür.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2D7577-B29D-CDDF-5443-EE49E614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69" t="3008" r="13637" b="3877"/>
          <a:stretch>
            <a:fillRect/>
          </a:stretch>
        </p:blipFill>
        <p:spPr>
          <a:xfrm>
            <a:off x="7814509" y="1080835"/>
            <a:ext cx="3480133" cy="33026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1E252F-A754-3700-1CE4-6CC9AB508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08" y="1320265"/>
            <a:ext cx="3829048" cy="3063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Denenebilir Fikir ve Karşılaştırma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6/9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0396" y="1181742"/>
            <a:ext cx="996696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fikir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denendi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?: </a:t>
            </a:r>
            <a:r>
              <a:rPr lang="tr-TR" sz="2000" dirty="0"/>
              <a:t>CBAM attention ve çok ölçekli (1x1, 3x1, 1x3, 5x1, 1x5) convolution bloklarının birlikte kullanılması.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değiştirildi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tr-TR" sz="2000" dirty="0"/>
              <a:t>Klasik CNN yerine Block A/B yapıları, attention (CBAM) ve özel downsampling bloğu eklendi.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denendi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r>
              <a:rPr lang="tr-TR" sz="2000" dirty="0"/>
              <a:t>Özellik çıkarımını güçlendirmek ve farklı ölçeklerdeki bilgiyi daha iyi yakalamak için.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model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sonucu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r>
              <a:rPr lang="en-US" sz="2000" dirty="0"/>
              <a:t>Daha </a:t>
            </a:r>
            <a:r>
              <a:rPr lang="en-US" sz="2000" dirty="0" err="1"/>
              <a:t>basit</a:t>
            </a:r>
            <a:r>
              <a:rPr lang="en-US" sz="2000" dirty="0"/>
              <a:t> CNN, </a:t>
            </a:r>
            <a:r>
              <a:rPr lang="en-US" sz="2000" dirty="0" err="1"/>
              <a:t>sınırlı</a:t>
            </a:r>
            <a:r>
              <a:rPr lang="en-US" sz="2000" dirty="0"/>
              <a:t> feature extraction.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r>
              <a:rPr lang="tr-TR" sz="2000" dirty="0"/>
              <a:t>Daha zengin feature çıkarımı ve potansiyel olarak daha yüksek doğruluk.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karşılaştırma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r>
              <a:rPr lang="tr-TR" sz="2000" dirty="0"/>
              <a:t>Yeni model, attention ve multi-scale yapı sayesinde temel modele göre daha güçlü ve esnek.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Literatür ile Kısa Karşılaştırma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7/9</a:t>
            </a:r>
            <a:endParaRPr lang="en-US" sz="105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148436-52CB-E6D8-325D-7CF359FB8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98750"/>
              </p:ext>
            </p:extLst>
          </p:nvPr>
        </p:nvGraphicFramePr>
        <p:xfrm>
          <a:off x="685799" y="1308945"/>
          <a:ext cx="10882566" cy="5127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761">
                  <a:extLst>
                    <a:ext uri="{9D8B030D-6E8A-4147-A177-3AD203B41FA5}">
                      <a16:colId xmlns:a16="http://schemas.microsoft.com/office/drawing/2014/main" val="1365507687"/>
                    </a:ext>
                  </a:extLst>
                </a:gridCol>
                <a:gridCol w="1813761">
                  <a:extLst>
                    <a:ext uri="{9D8B030D-6E8A-4147-A177-3AD203B41FA5}">
                      <a16:colId xmlns:a16="http://schemas.microsoft.com/office/drawing/2014/main" val="2749300146"/>
                    </a:ext>
                  </a:extLst>
                </a:gridCol>
                <a:gridCol w="1813761">
                  <a:extLst>
                    <a:ext uri="{9D8B030D-6E8A-4147-A177-3AD203B41FA5}">
                      <a16:colId xmlns:a16="http://schemas.microsoft.com/office/drawing/2014/main" val="3832847942"/>
                    </a:ext>
                  </a:extLst>
                </a:gridCol>
                <a:gridCol w="1813761">
                  <a:extLst>
                    <a:ext uri="{9D8B030D-6E8A-4147-A177-3AD203B41FA5}">
                      <a16:colId xmlns:a16="http://schemas.microsoft.com/office/drawing/2014/main" val="539282220"/>
                    </a:ext>
                  </a:extLst>
                </a:gridCol>
                <a:gridCol w="1813761">
                  <a:extLst>
                    <a:ext uri="{9D8B030D-6E8A-4147-A177-3AD203B41FA5}">
                      <a16:colId xmlns:a16="http://schemas.microsoft.com/office/drawing/2014/main" val="573903614"/>
                    </a:ext>
                  </a:extLst>
                </a:gridCol>
                <a:gridCol w="1813761">
                  <a:extLst>
                    <a:ext uri="{9D8B030D-6E8A-4147-A177-3AD203B41FA5}">
                      <a16:colId xmlns:a16="http://schemas.microsoft.com/office/drawing/2014/main" val="26254596"/>
                    </a:ext>
                  </a:extLst>
                </a:gridCol>
              </a:tblGrid>
              <a:tr h="465986">
                <a:tc>
                  <a:txBody>
                    <a:bodyPr/>
                    <a:lstStyle/>
                    <a:p>
                      <a:r>
                        <a:rPr lang="tr-TR" dirty="0"/>
                        <a:t>Kimin Yaptığı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Yılı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Veri Seti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Yöntem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F1-Skor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423423"/>
                  </a:ext>
                </a:extLst>
              </a:tr>
              <a:tr h="804304">
                <a:tc>
                  <a:txBody>
                    <a:bodyPr/>
                    <a:lstStyle/>
                    <a:p>
                      <a:r>
                        <a:rPr lang="tr-TR" dirty="0"/>
                        <a:t>Kassem ve ark.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Geliştirilmiş GoogleNet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0.9492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0.8007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195688"/>
                  </a:ext>
                </a:extLst>
              </a:tr>
              <a:tr h="804304">
                <a:tc>
                  <a:txBody>
                    <a:bodyPr/>
                    <a:lstStyle/>
                    <a:p>
                      <a:r>
                        <a:rPr lang="tr-TR" dirty="0"/>
                        <a:t>Ahammed ve ark.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SVM / KNN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0.9488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570298"/>
                  </a:ext>
                </a:extLst>
              </a:tr>
              <a:tr h="804304">
                <a:tc>
                  <a:txBody>
                    <a:bodyPr/>
                    <a:lstStyle/>
                    <a:p>
                      <a:r>
                        <a:rPr lang="tr-TR" dirty="0"/>
                        <a:t>Naveed ve ark.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Geliştirilmiş 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0.9743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4588"/>
                  </a:ext>
                </a:extLst>
              </a:tr>
              <a:tr h="804304">
                <a:tc>
                  <a:txBody>
                    <a:bodyPr/>
                    <a:lstStyle/>
                    <a:p>
                      <a:r>
                        <a:rPr lang="tr-TR" dirty="0"/>
                        <a:t>Ghazouani ve ark.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MuRANet / MSD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880226"/>
                  </a:ext>
                </a:extLst>
              </a:tr>
              <a:tr h="804304">
                <a:tc>
                  <a:txBody>
                    <a:bodyPr/>
                    <a:lstStyle/>
                    <a:p>
                      <a:r>
                        <a:rPr lang="tr-TR" dirty="0"/>
                        <a:t>Hoang ve ark.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Wide-ShuffleNet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0.8256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56901"/>
                  </a:ext>
                </a:extLst>
              </a:tr>
              <a:tr h="465986">
                <a:tc>
                  <a:txBody>
                    <a:bodyPr/>
                    <a:lstStyle/>
                    <a:p>
                      <a:r>
                        <a:rPr lang="tr-TR" dirty="0"/>
                        <a:t>Bizim çalışmamız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ISIC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Özgün CNN Mimarisi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0.775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7600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Hata Analizi ve Genel Değerlendirme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8/9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çok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karışan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MEL ve SCC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nedenler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Sınıflar arası benzerlik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kaynaklı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sorunlar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Sınıflar arası benzerlikler ve veri sayısında azlık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kaynaklı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sorunlar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Parametre sayısı azaltılabilir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güçlü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yönü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Çeşitli SOTA modellerin güçlü özelliklerinin harmanlanması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sınırlılığı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Veri setiyle alakalı olabilir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Geliştirme için 1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Veri setinde bulunan görüntülerin daha farklı görüntüleme teknolojileri ile yeniden elde edilmesi (IR olabilir)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78408"/>
            <a:ext cx="10835640" cy="0"/>
          </a:xfrm>
          <a:prstGeom prst="line">
            <a:avLst/>
          </a:prstGeom>
          <a:noFill/>
          <a:ln w="19050">
            <a:solidFill>
              <a:srgbClr val="2E6B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881360" y="530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9/9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996696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kümesi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linki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https://challenge.isic-archive.com/landing/2019/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kaynaklar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Google Scholar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Makale / repo /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dokümantasyon</a:t>
            </a: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bağlantıları</a:t>
            </a: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</a:p>
          <a:p>
            <a:pPr>
              <a:buSzPct val="100000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https://doi.org/10.3390/app12052677</a:t>
            </a: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https://doi.org/10.1016/j.bspc.2024.107449</a:t>
            </a: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/>
              </a:rPr>
              <a:t>https://doi.org/10.1016/j.engappai.2023.107417</a:t>
            </a: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/>
              </a:rPr>
              <a:t>https://doi.org/10.1016/j.health.2022.100122</a:t>
            </a: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r>
              <a:rPr lang="tr-TR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/>
              </a:rPr>
              <a:t>https://doi.org/10.1109/ACCESS.2020.3003890</a:t>
            </a: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buSzPct val="100000"/>
            </a:pPr>
            <a:endParaRPr lang="tr-TR" sz="1900" dirty="0">
              <a:solidFill>
                <a:srgbClr val="1F293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77800" indent="-177800">
              <a:buSzPct val="100000"/>
              <a:buChar char="•"/>
            </a:pP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618</Words>
  <Application>Microsoft Office PowerPoint</Application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Ödev 2 - Sade Sunum Şablonu</dc:title>
  <dc:subject>Ödev 2 sade sunum şablonu</dc:subject>
  <dc:creator>OpenAI</dc:creator>
  <cp:lastModifiedBy>Emirhan AYDIN</cp:lastModifiedBy>
  <cp:revision>9</cp:revision>
  <dcterms:created xsi:type="dcterms:W3CDTF">2026-03-07T13:19:01Z</dcterms:created>
  <dcterms:modified xsi:type="dcterms:W3CDTF">2026-03-17T13:38:46Z</dcterms:modified>
</cp:coreProperties>
</file>